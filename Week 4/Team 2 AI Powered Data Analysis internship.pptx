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 panose="020B0604020202020204"/>
              </a:rPr>
              <a:t>Applications by Opportunity Category  (Power BI)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8BBC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DB-4797-83FE-511D17B01AB1}"/>
              </c:ext>
            </c:extLst>
          </c:dPt>
          <c:dPt>
            <c:idx val="1"/>
            <c:invertIfNegative val="0"/>
            <c:bubble3D val="0"/>
            <c:spPr>
              <a:solidFill>
                <a:srgbClr val="1A8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DB-4797-83FE-511D17B01AB1}"/>
              </c:ext>
            </c:extLst>
          </c:dPt>
          <c:dPt>
            <c:idx val="2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DB-4797-83FE-511D17B01AB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DB-4797-83FE-511D17B01A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Events / Other</c:v>
                </c:pt>
                <c:pt idx="1">
                  <c:v>Competition</c:v>
                </c:pt>
                <c:pt idx="2">
                  <c:v>Course</c:v>
                </c:pt>
                <c:pt idx="3">
                  <c:v>Internship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</c:v>
                </c:pt>
                <c:pt idx="1">
                  <c:v>427</c:v>
                </c:pt>
                <c:pt idx="2">
                  <c:v>2037</c:v>
                </c:pt>
                <c:pt idx="3">
                  <c:v>5411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DB-4797-83FE-511D17B01A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708eb43-d2f3-4bcc-a3b6-3b56d9e32ff9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 panose="020B0604020202020204"/>
              </a:rPr>
              <a:t>Gender Distribution of Learners  (Power BI)</a:t>
            </a:r>
          </a:p>
        </c:rich>
      </c:tx>
      <c:layout>
        <c:manualLayout>
          <c:xMode val="edge"/>
          <c:yMode val="edge"/>
          <c:x val="0.106646825396825"/>
          <c:y val="7.0621468926553698E-3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Learners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3E-4159-8437-18320C3BD3BD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3E-4159-8437-18320C3BD3BD}"/>
              </c:ext>
            </c:extLst>
          </c:dPt>
          <c:dPt>
            <c:idx val="2"/>
            <c:bubble3D val="0"/>
            <c:spPr>
              <a:solidFill>
                <a:srgbClr val="1A8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3E-4159-8437-18320C3BD3BD}"/>
              </c:ext>
            </c:extLst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B3E-4159-8437-18320C3BD3BD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3E-4159-8437-18320C3BD3B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B3E-4159-8437-18320C3BD3BD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3E-4159-8437-18320C3BD3BD}"/>
                </c:ext>
              </c:extLst>
            </c:dLbl>
            <c:dLbl>
              <c:idx val="3"/>
              <c:layout>
                <c:manualLayout>
                  <c:x val="2.3654159443489101E-2"/>
                  <c:y val="0.12632198675114001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B3E-4159-8437-18320C3BD3B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Male</c:v>
                </c:pt>
                <c:pt idx="1">
                  <c:v>Female</c:v>
                </c:pt>
                <c:pt idx="2">
                  <c:v>Non-Binary</c:v>
                </c:pt>
                <c:pt idx="3">
                  <c:v>Prefer Not to Say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46.2</c:v>
                </c:pt>
                <c:pt idx="1">
                  <c:v>41.8</c:v>
                </c:pt>
                <c:pt idx="2">
                  <c:v>7.5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3E-4159-8437-18320C3BD3BD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1E293B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5ab7e30-0695-4df6-a123-fc3dbd6dec7b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1" i="0" u="none" strike="noStrike">
                <a:solidFill>
                  <a:srgbClr val="1E293B"/>
                </a:solidFill>
                <a:latin typeface="Arial" panose="020B0604020202020204"/>
              </a:rPr>
              <a:t>Signups by Month  (Power BI Dashboard)</a:t>
            </a:r>
          </a:p>
        </c:rich>
      </c:tx>
      <c:layout>
        <c:manualLayout>
          <c:xMode val="edge"/>
          <c:yMode val="edge"/>
          <c:x val="0.156335253107002"/>
          <c:y val="9.0443171540548692E-3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Signups by Month</c:v>
                </c:pt>
              </c:strCache>
            </c:strRef>
          </c:tx>
          <c:spPr>
            <a:ln w="38100" cap="flat" cmpd="sng" algn="ctr">
              <a:solidFill>
                <a:srgbClr val="1A8A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8A7B"/>
              </a:solidFill>
              <a:ln w="9525" cap="flat" cmpd="sng" algn="ctr">
                <a:solidFill>
                  <a:srgbClr val="1A8A7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2563A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310</c:v>
                </c:pt>
                <c:pt idx="1">
                  <c:v>340</c:v>
                </c:pt>
                <c:pt idx="2">
                  <c:v>390</c:v>
                </c:pt>
                <c:pt idx="3">
                  <c:v>505</c:v>
                </c:pt>
                <c:pt idx="4">
                  <c:v>671</c:v>
                </c:pt>
                <c:pt idx="5">
                  <c:v>820</c:v>
                </c:pt>
                <c:pt idx="6">
                  <c:v>915</c:v>
                </c:pt>
                <c:pt idx="7">
                  <c:v>1050</c:v>
                </c:pt>
                <c:pt idx="8">
                  <c:v>876</c:v>
                </c:pt>
                <c:pt idx="9">
                  <c:v>640</c:v>
                </c:pt>
                <c:pt idx="10">
                  <c:v>480</c:v>
                </c:pt>
                <c:pt idx="11">
                  <c:v>370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A1C-4866-A271-7257862564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41ff4f1-8a3c-4244-bda7-db6792fbaf2d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GB" sz="1200" b="0" i="0" u="none" strike="noStrike">
                <a:solidFill>
                  <a:srgbClr val="1E293B"/>
                </a:solidFill>
                <a:latin typeface="Arial" panose="020B0604020202020204"/>
              </a:rPr>
              <a:t>Application Time by Duration  (Power BI)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A8A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08-4943-A6C7-D00949CE0DF8}"/>
              </c:ext>
            </c:extLst>
          </c:dPt>
          <c:dPt>
            <c:idx val="1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08-4943-A6C7-D00949CE0DF8}"/>
              </c:ext>
            </c:extLst>
          </c:dPt>
          <c:dPt>
            <c:idx val="2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08-4943-A6C7-D00949CE0DF8}"/>
              </c:ext>
            </c:extLst>
          </c:dPt>
          <c:dPt>
            <c:idx val="3"/>
            <c:invertIfNegative val="0"/>
            <c:bubble3D val="0"/>
            <c:spPr>
              <a:solidFill>
                <a:srgbClr val="8BB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08-4943-A6C7-D00949CE0DF8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308-4943-A6C7-D00949CE0DF8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308-4943-A6C7-D00949CE0DF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Same Day</c:v>
                </c:pt>
                <c:pt idx="1">
                  <c:v>1–3 Days</c:v>
                </c:pt>
                <c:pt idx="2">
                  <c:v>4–7 Days</c:v>
                </c:pt>
                <c:pt idx="3">
                  <c:v>8–14 Days</c:v>
                </c:pt>
                <c:pt idx="4">
                  <c:v>15–30 Days</c:v>
                </c:pt>
                <c:pt idx="5">
                  <c:v>30+ Days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2874</c:v>
                </c:pt>
                <c:pt idx="1">
                  <c:v>2143</c:v>
                </c:pt>
                <c:pt idx="2">
                  <c:v>1687</c:v>
                </c:pt>
                <c:pt idx="3">
                  <c:v>892</c:v>
                </c:pt>
                <c:pt idx="4">
                  <c:v>624</c:v>
                </c:pt>
                <c:pt idx="5">
                  <c:v>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308-4943-A6C7-D00949CE0D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2230670-98ee-41bd-bde6-7f42c5270b7e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GB" sz="1200" b="0" i="0" u="none" strike="noStrike">
                <a:solidFill>
                  <a:srgbClr val="1E293B"/>
                </a:solidFill>
                <a:latin typeface="Arial" panose="020B0604020202020204"/>
              </a:rPr>
              <a:t>Success Rate by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62-4485-8530-359F025798F9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62-4485-8530-359F025798F9}"/>
              </c:ext>
            </c:extLst>
          </c:dPt>
          <c:dPt>
            <c:idx val="2"/>
            <c:invertIfNegative val="0"/>
            <c:bubble3D val="0"/>
            <c:spPr>
              <a:solidFill>
                <a:srgbClr val="1A8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62-4485-8530-359F025798F9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62-4485-8530-359F025798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Internship</c:v>
                </c:pt>
                <c:pt idx="1">
                  <c:v>Competition</c:v>
                </c:pt>
                <c:pt idx="2">
                  <c:v>Events</c:v>
                </c:pt>
                <c:pt idx="3">
                  <c:v>Course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21.5</c:v>
                </c:pt>
                <c:pt idx="1">
                  <c:v>58.4</c:v>
                </c:pt>
                <c:pt idx="2">
                  <c:v>72.3</c:v>
                </c:pt>
                <c:pt idx="3">
                  <c:v>99.1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362-4485-8530-359F02579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f2eee7f-963d-4e98-a634-3bdee8e666b1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Model Performance Comparison (Churn Prediction)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 ⭐</c:v>
                </c:pt>
                <c:pt idx="2">
                  <c:v>Linear Reg.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95.8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3F-41BF-88F2-83BF731541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%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 ⭐</c:v>
                </c:pt>
                <c:pt idx="2">
                  <c:v>Linear Reg.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14.9</c:v>
                </c:pt>
                <c:pt idx="1">
                  <c:v>66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3F-41BF-88F2-83BF731541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 × 100</c:v>
                </c:pt>
              </c:strCache>
            </c:strRef>
          </c:tx>
          <c:spPr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9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 ⭐</c:v>
                </c:pt>
                <c:pt idx="2">
                  <c:v>Linear Reg.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89.5</c:v>
                </c:pt>
                <c:pt idx="1">
                  <c:v>92.6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3F-41BF-88F2-83BF731541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82a073f-cb39-4555-b7a2-8cc4c36ffec7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GB" sz="1200" b="0" i="0" u="none" strike="noStrike">
                <a:solidFill>
                  <a:srgbClr val="1E293B"/>
                </a:solidFill>
                <a:latin typeface="Arial" panose="020B0604020202020204"/>
              </a:rPr>
              <a:t>6-Month Volume Forecast  (Power BI Signups by Month)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(Linear Reg.)</c:v>
                </c:pt>
              </c:strCache>
            </c:strRef>
          </c:tx>
          <c:spPr>
            <a:ln w="38100" cap="flat" cmpd="sng" algn="ctr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 cmpd="sng" algn="ctr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505</c:v>
                </c:pt>
                <c:pt idx="1">
                  <c:v>671</c:v>
                </c:pt>
                <c:pt idx="2">
                  <c:v>820</c:v>
                </c:pt>
                <c:pt idx="3">
                  <c:v>915</c:v>
                </c:pt>
                <c:pt idx="4">
                  <c:v>934</c:v>
                </c:pt>
                <c:pt idx="5">
                  <c:v>876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C4-4410-930B-08D46FA3C3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0"/>
        </c:scaling>
        <c:delete val="0"/>
        <c:axPos val="l"/>
        <c:majorGridlines>
          <c:spPr>
            <a:ln w="6350" cap="flat" cmpd="sng" algn="ctr">
              <a:solidFill>
                <a:srgbClr val="D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1E293B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9fa8074-6fdf-41ae-8bc1-e6dff648d1bd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GB" sz="1100" b="0" i="0" u="none" strike="noStrike">
                <a:solidFill>
                  <a:srgbClr val="1E293B"/>
                </a:solidFill>
                <a:latin typeface="Arial" panose="020B0604020202020204"/>
              </a:rPr>
              <a:t>Applications by Category  (Power BI)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8BBC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3F-415C-91A3-260D22AF0626}"/>
              </c:ext>
            </c:extLst>
          </c:dPt>
          <c:dPt>
            <c:idx val="1"/>
            <c:invertIfNegative val="0"/>
            <c:bubble3D val="0"/>
            <c:spPr>
              <a:solidFill>
                <a:srgbClr val="1A8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3F-415C-91A3-260D22AF0626}"/>
              </c:ext>
            </c:extLst>
          </c:dPt>
          <c:dPt>
            <c:idx val="2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3F-415C-91A3-260D22AF0626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3F-415C-91A3-260D22AF06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Events / Other</c:v>
                </c:pt>
                <c:pt idx="1">
                  <c:v>Competition</c:v>
                </c:pt>
                <c:pt idx="2">
                  <c:v>Course</c:v>
                </c:pt>
                <c:pt idx="3">
                  <c:v>Internship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</c:v>
                </c:pt>
                <c:pt idx="1">
                  <c:v>427</c:v>
                </c:pt>
                <c:pt idx="2">
                  <c:v>2037</c:v>
                </c:pt>
                <c:pt idx="3">
                  <c:v>5411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3F-415C-91A3-260D22AF06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de88112-0758-40ce-a14c-0c2c7f295bb2}"/>
      </c:ext>
    </c:extLst>
  </c:chart>
  <c:spPr>
    <a:solidFill>
      <a:srgbClr val="F7F9FC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E293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GB" sz="1100" b="0" i="0" u="none" strike="noStrike">
                <a:solidFill>
                  <a:srgbClr val="1E293B"/>
                </a:solidFill>
                <a:latin typeface="Arial" panose="020B0604020202020204"/>
              </a:rPr>
              <a:t>Overall Churn vs Completion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Learners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DF-47B2-B19D-B2F945D52201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DF-47B2-B19D-B2F945D52201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3DF-47B2-B19D-B2F945D52201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DF-47B2-B19D-B2F945D5220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>
                <a:glow rad="63500">
                  <a:schemeClr val="bg1">
                    <a:alpha val="100000"/>
                  </a:schemeClr>
                </a:glo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Completed (91.8%)</c:v>
                </c:pt>
                <c:pt idx="1">
                  <c:v>Churned (8.2%)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91.8</c:v>
                </c:pt>
                <c:pt idx="1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DF-47B2-B19D-B2F945D52201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1E293B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2a1836c-a899-4a12-b72c-84b9d7a4aeea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1000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046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Engagement &amp;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Analysis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1480" y="3017520"/>
            <a:ext cx="29260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4612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SLU Opportunity Platform  |  Excelerate AI Powered Data Analysis Internship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365760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2 Presentation  ·  March-April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Team &amp; 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 OUR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5389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63677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CHIDERA SAMUEL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810512"/>
            <a:ext cx="22402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coordination &amp; validation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5740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09397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227685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ANEESH FATIMA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2450592"/>
            <a:ext cx="22402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Scribe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9748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73405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" y="291693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PRAVEEN KUMAR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" y="3090672"/>
            <a:ext cx="22402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3756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37413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" y="355701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MARY KEMI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" y="3730752"/>
            <a:ext cx="22402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80360" y="141732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41732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08376" y="145389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08376" y="163677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JUDITH MMAGU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80360" y="205740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205740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08376" y="209397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08376" y="227685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MICHAELA DE BRUYN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269748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269748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08376" y="273405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08376" y="291693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VENNI VENNELA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80360" y="3337560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3337560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08376" y="337413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08376" y="3557016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 AZEEZ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94960" y="914400"/>
            <a:ext cx="36576" cy="4023360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1005840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What We'll Cover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623560" y="1463040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1463040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91072" y="1463040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23560" y="2039112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2039112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91072" y="2039112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623560" y="2615184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615184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291072" y="2615184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Features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623560" y="3191256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23560" y="3191256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291072" y="3191256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Key Insights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623560" y="3767328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23560" y="3767328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291072" y="3767328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Models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623560" y="4343400"/>
            <a:ext cx="32918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23560" y="4343400"/>
            <a:ext cx="640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291072" y="4343400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63" name="Shape 37">
            <a:extLst>
              <a:ext uri="{FF2B5EF4-FFF2-40B4-BE49-F238E27FC236}">
                <a16:creationId xmlns:a16="http://schemas.microsoft.com/office/drawing/2014/main" id="{C29F2B06-A53A-F33F-9F86-67D28E63EA0D}"/>
              </a:ext>
            </a:extLst>
          </p:cNvPr>
          <p:cNvSpPr/>
          <p:nvPr/>
        </p:nvSpPr>
        <p:spPr>
          <a:xfrm>
            <a:off x="2880360" y="3976393"/>
            <a:ext cx="2423160" cy="54864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EF2E2339-879C-A269-BC36-A2063CBCEF27}"/>
              </a:ext>
            </a:extLst>
          </p:cNvPr>
          <p:cNvSpPr/>
          <p:nvPr/>
        </p:nvSpPr>
        <p:spPr>
          <a:xfrm>
            <a:off x="2880360" y="3976393"/>
            <a:ext cx="64008" cy="54864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65" name="Text 39">
            <a:extLst>
              <a:ext uri="{FF2B5EF4-FFF2-40B4-BE49-F238E27FC236}">
                <a16:creationId xmlns:a16="http://schemas.microsoft.com/office/drawing/2014/main" id="{8ECA27A6-EFC5-4333-7F5C-67AB2C7F3BEC}"/>
              </a:ext>
            </a:extLst>
          </p:cNvPr>
          <p:cNvSpPr/>
          <p:nvPr/>
        </p:nvSpPr>
        <p:spPr>
          <a:xfrm>
            <a:off x="3008376" y="4012969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8</a:t>
            </a:r>
            <a:endParaRPr lang="en-US" sz="900" dirty="0"/>
          </a:p>
        </p:txBody>
      </p:sp>
      <p:sp>
        <p:nvSpPr>
          <p:cNvPr id="66" name="Text 40">
            <a:extLst>
              <a:ext uri="{FF2B5EF4-FFF2-40B4-BE49-F238E27FC236}">
                <a16:creationId xmlns:a16="http://schemas.microsoft.com/office/drawing/2014/main" id="{58863604-9774-6BF3-69C8-CFF52643472C}"/>
              </a:ext>
            </a:extLst>
          </p:cNvPr>
          <p:cNvSpPr/>
          <p:nvPr/>
        </p:nvSpPr>
        <p:spPr>
          <a:xfrm>
            <a:off x="3008376" y="4195849"/>
            <a:ext cx="2240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Zain Latif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SLU Opportunity Platform connects learners with internships, courses, competitions, events, and engagements. Three key challenges needed solving:</a:t>
            </a:r>
            <a:endParaRPr lang="en-US" sz="12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228600" y="1572768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228600" y="1572768"/>
            <a:ext cx="2743200" cy="64008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64208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365760" y="23774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 Churn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365760" y="2834640"/>
            <a:ext cx="24688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8.2% of learners (about 703 out of 8,558) dropped out before finishing — losing the time and effort invested in matching them.</a:t>
            </a:r>
            <a:endParaRPr lang="en-US" sz="115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3136392" y="1572768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136392" y="1572768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664208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273552" y="23774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Rejection Rate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3273552" y="2834640"/>
            <a:ext cx="24688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Internships make up 63.3% of all applications but have a 78.5% non-completion rate. Most applicants don't succeed, leaving them frustrated.</a:t>
            </a:r>
            <a:endParaRPr lang="en-US" sz="1150" dirty="0"/>
          </a:p>
        </p:txBody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6044184" y="1572768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6044184" y="157276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44184" y="1664208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6181344" y="23774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Demand Forecasting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6181344" y="2834640"/>
            <a:ext cx="24688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platform had no way to predict monthly application volumes, making it impossible to plan staff, partners, or support resources.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2029968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8,558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" y="1463040"/>
            <a:ext cx="20299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4016" y="960120"/>
            <a:ext cx="2029968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14016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14016" y="1463040"/>
            <a:ext cx="20299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2029968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26864" y="1463040"/>
            <a:ext cx="20299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39712" y="960120"/>
            <a:ext cx="2029968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9712" y="100584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38.6%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39712" y="1463040"/>
            <a:ext cx="20299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Success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" y="1920240"/>
            <a:ext cx="874166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SLU Opportunity Wise Data (2022–2024)  |  Top countries: USA 46.5%  ·  India 33.1%  ·  Nigeria 8.9%  |  Source: Power BI Dashboard</a:t>
            </a:r>
            <a:endParaRPr lang="en-US" sz="9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01168" y="2240280"/>
          <a:ext cx="4754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5120640" y="2251710"/>
          <a:ext cx="38404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480695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295" y="-131445"/>
            <a:ext cx="8778240" cy="619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 — Data Cleaning &amp; Feature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04495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107315" y="663575"/>
          <a:ext cx="4189730" cy="2106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45923" y="2750185"/>
            <a:ext cx="4297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Cleaned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578" y="3054223"/>
            <a:ext cx="4297680" cy="27432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578" y="3054223"/>
            <a:ext cx="5486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1450" y="3090799"/>
            <a:ext cx="2651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Mixed date formats across 5 columns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850642" y="3090799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Custom parser applied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2578" y="3365119"/>
            <a:ext cx="4297680" cy="27432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578" y="3365119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1450" y="3401695"/>
            <a:ext cx="2651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200 corrupt Apply Dates (year &gt; 2030)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50642" y="3401695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Set blank + flagged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2578" y="3676015"/>
            <a:ext cx="4297680" cy="27432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78" y="3676015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1450" y="3712591"/>
            <a:ext cx="2651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703 corrupt Opportunity Start Dates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850642" y="3712591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Blank + binary flag added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2578" y="3986911"/>
            <a:ext cx="4297680" cy="27432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578" y="3986911"/>
            <a:ext cx="54864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1450" y="4023487"/>
            <a:ext cx="2651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3,794 missing Start Dates (44.3%)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850642" y="4023487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Kept blank with model flag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578" y="4297807"/>
            <a:ext cx="4297680" cy="274320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578" y="4297807"/>
            <a:ext cx="5486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1450" y="4334383"/>
            <a:ext cx="2651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Inconsistent gender &amp; country labels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50642" y="4334383"/>
            <a:ext cx="14447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Standardised casing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31535" y="2628900"/>
            <a:ext cx="2244725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New Features Created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04588" y="2967228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4588" y="2967228"/>
            <a:ext cx="45720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5172" y="2985516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Age_at_Application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658100" y="2985516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4588" y="3200400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04588" y="3200400"/>
            <a:ext cx="45720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05172" y="3218688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Age_Group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658100" y="3218688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Categorical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704588" y="3433572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4588" y="3433572"/>
            <a:ext cx="45720" cy="201168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05172" y="3451860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Opportunity_Duration_Days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658100" y="3451860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704588" y="3666744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04588" y="3666744"/>
            <a:ext cx="45720" cy="201168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05172" y="3685032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Days_to_Apply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58100" y="3685032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704588" y="3899916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04588" y="3899916"/>
            <a:ext cx="45720" cy="201168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05172" y="3918204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Application_Year / Month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658100" y="3918204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704588" y="4133088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04588" y="4133088"/>
            <a:ext cx="4572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05172" y="4151376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Is_International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658100" y="4151376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704588" y="4366260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04588" y="4366260"/>
            <a:ext cx="4572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05172" y="4384548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Is_Successful ★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658100" y="4384548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Target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704588" y="4599432"/>
            <a:ext cx="4169664" cy="201168"/>
          </a:xfrm>
          <a:prstGeom prst="rect">
            <a:avLst/>
          </a:prstGeom>
          <a:solidFill>
            <a:srgbClr val="E8EFF7"/>
          </a:solidFill>
          <a:ln w="6350">
            <a:solidFill>
              <a:srgbClr val="D0DCE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04588" y="4599432"/>
            <a:ext cx="4572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805172" y="4617720"/>
            <a:ext cx="2834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Start_Date_Missing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658100" y="4617720"/>
            <a:ext cx="11704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Flag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704588" y="4896612"/>
            <a:ext cx="4169664" cy="0"/>
          </a:xfrm>
          <a:prstGeom prst="rect">
            <a:avLst/>
          </a:prstGeom>
          <a:noFill/>
        </p:spPr>
      </p:sp>
      <p:sp>
        <p:nvSpPr>
          <p:cNvPr id="62" name="Shape 59"/>
          <p:cNvSpPr/>
          <p:nvPr/>
        </p:nvSpPr>
        <p:spPr>
          <a:xfrm>
            <a:off x="4704588" y="4850892"/>
            <a:ext cx="4169664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704588" y="4896612"/>
            <a:ext cx="416966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dataset: 8,558 rows × 25 columns</a:t>
            </a:r>
            <a:endParaRPr lang="en-US" sz="1000" dirty="0"/>
          </a:p>
        </p:txBody>
      </p:sp>
      <p:sp>
        <p:nvSpPr>
          <p:cNvPr id="64" name="Text Box 63"/>
          <p:cNvSpPr txBox="1"/>
          <p:nvPr/>
        </p:nvSpPr>
        <p:spPr>
          <a:xfrm>
            <a:off x="4694555" y="647700"/>
            <a:ext cx="4133850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just">
              <a:lnSpc>
                <a:spcPct val="110000"/>
              </a:lnSpc>
            </a:pPr>
            <a:r>
              <a:rPr lang="en-US" sz="1500" b="1"/>
              <a:t>This chart illustrates the signups evenly distributed by month, where the peak is at August(915)-September(1,050) applications. We noticed a progressive uptrend in the application by students over the 9 months period and a successsive decline over the winter period of the year December-March.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 — Exploratory Data Analysis: Key Findings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282575" y="1005205"/>
          <a:ext cx="4210685" cy="2612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960120"/>
          <a:ext cx="4274185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01168" y="3685032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01168" y="3685032"/>
            <a:ext cx="2057400" cy="54864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374904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  Applications Peak in August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92608" y="4133088"/>
            <a:ext cx="18745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1,050 applications — clear mid-year surge during semester breaks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432304" y="3685032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32304" y="3685032"/>
            <a:ext cx="20574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23744" y="374904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Age 27–30 Succeeds Most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523744" y="4133088"/>
            <a:ext cx="18745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41.5% success rate — confirms Age_Group as a useful ML feature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3685032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0" y="3685032"/>
            <a:ext cx="20574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374904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Most Apply on Sign-Up Day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4133088"/>
            <a:ext cx="18745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Days_to_Apply = 0 — over half apply immediately after signup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894576" y="3685032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94576" y="3685032"/>
            <a:ext cx="20574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86016" y="374904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7 of 9 Features Model-Ready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986016" y="4133088"/>
            <a:ext cx="18745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Duration_Days and Days_to_Apply need extra pre-processing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 — Predictive Models Built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60120"/>
            <a:ext cx="874166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built 3 machine learning models — 2 to predict churn and 1 to forecast future application volume: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12725" y="1327785"/>
          <a:ext cx="413639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635500" y="1325880"/>
          <a:ext cx="41884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12598" y="3703320"/>
            <a:ext cx="27797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12598" y="3714750"/>
            <a:ext cx="2779776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4038" y="3769614"/>
            <a:ext cx="25968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2326" y="403479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 93.0%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648206" y="403479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 14.9%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22326" y="430911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  0.259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648206" y="430911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 0.895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04038" y="460171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Misses 85% of actual churners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156966" y="3714750"/>
            <a:ext cx="27797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56966" y="3714750"/>
            <a:ext cx="2779776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48406" y="3769614"/>
            <a:ext cx="25968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266694" y="403479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 95.8%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592574" y="403479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 66.0%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266694" y="430911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  0.721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592574" y="430911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 0.926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248406" y="460171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Catches 66% of at-risk learners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101334" y="3714750"/>
            <a:ext cx="27797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01334" y="3714750"/>
            <a:ext cx="2779776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92774" y="3769614"/>
            <a:ext cx="25968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211062" y="403479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  840.6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536942" y="403479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  735.3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211062" y="430911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MAPE  116.5%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7536942" y="4309110"/>
            <a:ext cx="126187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 -1.152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192774" y="460171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Captures trend, needs 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82296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— What the Data Tells Us to 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60120"/>
            <a:ext cx="87416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clear actions come directly from our model outputs and EDA findings: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4572000" cy="850392"/>
          </a:xfrm>
          <a:prstGeom prst="rect">
            <a:avLst/>
          </a:prstGeom>
          <a:solidFill>
            <a:srgbClr val="E8EFF7"/>
          </a:solidFill>
          <a:ln w="10160">
            <a:solidFill>
              <a:srgbClr val="D0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98448"/>
            <a:ext cx="566928" cy="850392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298448"/>
            <a:ext cx="566928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1362456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for the Summer Surge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1664208"/>
            <a:ext cx="385876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 forecast to nearly double — Apr (505) to Aug (934). Scale staff, partner slots and infrastructure from June.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231136"/>
            <a:ext cx="4572000" cy="850392"/>
          </a:xfrm>
          <a:prstGeom prst="rect">
            <a:avLst/>
          </a:prstGeom>
          <a:solidFill>
            <a:srgbClr val="E8EFF7"/>
          </a:solidFill>
          <a:ln w="10160">
            <a:solidFill>
              <a:srgbClr val="D0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231136"/>
            <a:ext cx="566928" cy="8503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31136"/>
            <a:ext cx="566928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2295144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 New Learners in the First 7 Days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2596896"/>
            <a:ext cx="385876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Learners who delay &gt;7 days churn far more. A 3-email automated sequence on Days 1, 3 and 7 can reduce this.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3163824"/>
            <a:ext cx="4572000" cy="850392"/>
          </a:xfrm>
          <a:prstGeom prst="rect">
            <a:avLst/>
          </a:prstGeom>
          <a:solidFill>
            <a:srgbClr val="E8EFF7"/>
          </a:solidFill>
          <a:ln w="10160">
            <a:solidFill>
              <a:srgbClr val="D0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163824"/>
            <a:ext cx="566928" cy="8503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3163824"/>
            <a:ext cx="566928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1248" y="3227832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the Model to Spot At-Risk Learners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" y="3529584"/>
            <a:ext cx="385876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Random Forest weekly. Flag any learner above 75% churn probability for personal retention outreach.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4096512"/>
            <a:ext cx="4572000" cy="850392"/>
          </a:xfrm>
          <a:prstGeom prst="rect">
            <a:avLst/>
          </a:prstGeom>
          <a:solidFill>
            <a:srgbClr val="E8EFF7"/>
          </a:solidFill>
          <a:ln w="10160">
            <a:solidFill>
              <a:srgbClr val="D0D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4096512"/>
            <a:ext cx="566928" cy="8503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4096512"/>
            <a:ext cx="566928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" y="4160520"/>
            <a:ext cx="3858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the Internship Pipeline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4462272"/>
            <a:ext cx="385876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63.3% of apps go to internships but 78.5% don't succeed. Require a readiness course before applying.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956175" y="993775"/>
          <a:ext cx="3986530" cy="2043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1"/>
          <p:cNvGraphicFramePr/>
          <p:nvPr/>
        </p:nvGraphicFramePr>
        <p:xfrm>
          <a:off x="4956175" y="3013075"/>
          <a:ext cx="3986530" cy="1933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8A7B"/>
          </a:solidFill>
          <a:ln w="12700">
            <a:solidFill>
              <a:srgbClr val="1A8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SLU Opportunity Platform  ·  Team 2  ·  March-April 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Excelerate AI Powered Data Analysis Internship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2.8,&quot;left&quot;:18,&quot;top&quot;:123.84,&quot;width&quot;:673.92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835</Words>
  <Application>Microsoft Office PowerPoint</Application>
  <PresentationFormat>On-screen Show (16:9)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Engagement &amp; Opportunity Analysis — Team 2</dc:title>
  <dc:subject>PptxGenJS Presentation</dc:subject>
  <dc:creator>PptxGenJS</dc:creator>
  <cp:lastModifiedBy>Zain Latif</cp:lastModifiedBy>
  <cp:revision>10</cp:revision>
  <dcterms:created xsi:type="dcterms:W3CDTF">2026-04-04T15:18:00Z</dcterms:created>
  <dcterms:modified xsi:type="dcterms:W3CDTF">2026-04-10T21:10:16Z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C554DCE4B0B54435ABAB0E2836E7E6DE_12</vt:lpwstr>
  </property>
  <property fmtid="{D5CDD505-2E9C-101B-9397-08002B2CF9AE}" pid="3" name="KSOProductBuildVer">
    <vt:lpwstr>1033-12.2.0.23196</vt:lpwstr>
  </property>
</Properties>
</file>